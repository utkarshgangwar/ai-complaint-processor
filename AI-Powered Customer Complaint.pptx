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661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285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33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73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38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676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9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225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6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27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1904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4069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957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751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0354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965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46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34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942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080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6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75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5658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456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433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32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3C0CD750-2830-41C2-8BB6-17F4DCFB15B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FB57D6-E176-4EBE-99B6-C63144D63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3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E434-28EF-7846-1748-B0F35F822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79" y="324466"/>
            <a:ext cx="11228439" cy="2497240"/>
          </a:xfrm>
        </p:spPr>
        <p:txBody>
          <a:bodyPr>
            <a:normAutofit/>
          </a:bodyPr>
          <a:lstStyle/>
          <a:p>
            <a:r>
              <a:rPr lang="en-IN" b="1" dirty="0"/>
              <a:t>AI-Powered Customer Complaint </a:t>
            </a:r>
            <a:br>
              <a:rPr lang="en-IN" b="1" dirty="0"/>
            </a:br>
            <a:r>
              <a:rPr lang="en-IN" b="1" dirty="0"/>
              <a:t>&amp; </a:t>
            </a:r>
            <a:br>
              <a:rPr lang="en-IN" b="1" dirty="0"/>
            </a:br>
            <a:r>
              <a:rPr lang="en-IN" b="1" dirty="0"/>
              <a:t>Document Processing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0668B-0FFA-A6A6-EE19-76C437C65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780" y="2821707"/>
            <a:ext cx="11228438" cy="3711828"/>
          </a:xfrm>
        </p:spPr>
        <p:txBody>
          <a:bodyPr>
            <a:normAutofit fontScale="92500" lnSpcReduction="10000"/>
          </a:bodyPr>
          <a:lstStyle/>
          <a:p>
            <a:endParaRPr lang="en-IN" sz="1800" dirty="0"/>
          </a:p>
          <a:p>
            <a:r>
              <a:rPr lang="en-IN" sz="1800" dirty="0"/>
              <a:t>Batch Document Ingestion, Schema-Enforced Extraction, and Automated Operational Workflows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1900" dirty="0"/>
              <a:t>AI Capstone Project – Document Workflows &amp; Generative AI</a:t>
            </a:r>
          </a:p>
          <a:p>
            <a:r>
              <a:rPr lang="en-IN" b="1" dirty="0"/>
              <a:t>Live Deployment URL:</a:t>
            </a:r>
            <a:r>
              <a:rPr lang="en-IN" dirty="0"/>
              <a:t> </a:t>
            </a:r>
          </a:p>
          <a:p>
            <a:r>
              <a:rPr lang="en-IN" b="1" dirty="0"/>
              <a:t>GitHub Repository: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Python 3.10+ • </a:t>
            </a:r>
            <a:r>
              <a:rPr lang="en-IN" dirty="0" err="1"/>
              <a:t>LangChain</a:t>
            </a:r>
            <a:r>
              <a:rPr lang="en-IN" dirty="0"/>
              <a:t> • </a:t>
            </a:r>
            <a:r>
              <a:rPr lang="en-IN" dirty="0" err="1"/>
              <a:t>Pydantic</a:t>
            </a:r>
            <a:r>
              <a:rPr lang="en-IN" dirty="0"/>
              <a:t> v2 • </a:t>
            </a:r>
            <a:r>
              <a:rPr lang="en-IN" dirty="0" err="1"/>
              <a:t>Streamlit</a:t>
            </a:r>
            <a:r>
              <a:rPr lang="en-IN" dirty="0"/>
              <a:t> • AWS EC2 • Pandas • </a:t>
            </a:r>
            <a:r>
              <a:rPr lang="en-IN" dirty="0" err="1"/>
              <a:t>PyTest</a:t>
            </a:r>
            <a:r>
              <a:rPr lang="en-IN" dirty="0"/>
              <a:t> • OpenAI/Gemini API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6D5150-B813-A783-611F-CA345B28F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26289"/>
              </p:ext>
            </p:extLst>
          </p:nvPr>
        </p:nvGraphicFramePr>
        <p:xfrm>
          <a:off x="481779" y="4036295"/>
          <a:ext cx="112284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813">
                  <a:extLst>
                    <a:ext uri="{9D8B030D-6E8A-4147-A177-3AD203B41FA5}">
                      <a16:colId xmlns:a16="http://schemas.microsoft.com/office/drawing/2014/main" val="1115757345"/>
                    </a:ext>
                  </a:extLst>
                </a:gridCol>
                <a:gridCol w="3742813">
                  <a:extLst>
                    <a:ext uri="{9D8B030D-6E8A-4147-A177-3AD203B41FA5}">
                      <a16:colId xmlns:a16="http://schemas.microsoft.com/office/drawing/2014/main" val="1877692706"/>
                    </a:ext>
                  </a:extLst>
                </a:gridCol>
                <a:gridCol w="3742813">
                  <a:extLst>
                    <a:ext uri="{9D8B030D-6E8A-4147-A177-3AD203B41FA5}">
                      <a16:colId xmlns:a16="http://schemas.microsoft.com/office/drawing/2014/main" val="514873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UTKARSH GANGWAR</a:t>
                      </a:r>
                      <a:endParaRPr lang="en-IN" sz="18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endParaRPr lang="en-IN" sz="18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PRATEEK KUMAR</a:t>
                      </a:r>
                      <a:endParaRPr lang="en-IN" sz="18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58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49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D12A-5CBF-C10E-45DA-005A8B7B7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4"/>
            <a:ext cx="11090788" cy="1545967"/>
          </a:xfrm>
        </p:spPr>
        <p:txBody>
          <a:bodyPr/>
          <a:lstStyle/>
          <a:p>
            <a:r>
              <a:rPr lang="en-IN" dirty="0"/>
              <a:t>Operational Inefficiencies in Unstructured Support Intake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CD35E-C198-7FF0-7937-81FEA2A9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Core Challenges</a:t>
            </a:r>
            <a:r>
              <a:rPr lang="en-US" dirty="0"/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Manual Processing Bottlenecks:</a:t>
            </a:r>
            <a:r>
              <a:rPr lang="en-IN" sz="1800" dirty="0"/>
              <a:t> Customer grievances arrive via heterogeneous, unstructured formats (</a:t>
            </a:r>
            <a:r>
              <a:rPr lang="en-IN" dirty="0"/>
              <a:t>.pdf</a:t>
            </a:r>
            <a:r>
              <a:rPr lang="en-IN" sz="1800" dirty="0"/>
              <a:t>, </a:t>
            </a:r>
            <a:r>
              <a:rPr lang="en-IN" dirty="0"/>
              <a:t>.docx</a:t>
            </a:r>
            <a:r>
              <a:rPr lang="en-IN" sz="1800" dirty="0"/>
              <a:t>, </a:t>
            </a:r>
            <a:r>
              <a:rPr lang="en-IN" dirty="0"/>
              <a:t>.txt</a:t>
            </a:r>
            <a:r>
              <a:rPr lang="en-IN" sz="1800" dirty="0"/>
              <a:t>), forcing support teams to manually open, parse, and key in data.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Critical Escalation Delays:</a:t>
            </a:r>
            <a:r>
              <a:rPr lang="en-IN" sz="1800" dirty="0"/>
              <a:t> Severe issues (SLA outages, legal risks, security lockouts) get buried in general queues due to the absence of automated triage.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Inconsistent Communications:</a:t>
            </a:r>
            <a:r>
              <a:rPr lang="en-IN" sz="1800" dirty="0"/>
              <a:t> Customer response times lag, and internal incident briefs lack standardized root-cause formatting.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/>
              <a:t>System Objective:</a:t>
            </a:r>
            <a:r>
              <a:rPr lang="en-IN" dirty="0"/>
              <a:t> An end-to-end, batch-processing engine deployed on cloud infrastructure that converts raw complaint documents into schema-validated JSON records, tailored resolution email drafts, executive summaries, and a consolidated CSV report.</a:t>
            </a:r>
          </a:p>
        </p:txBody>
      </p:sp>
    </p:spTree>
    <p:extLst>
      <p:ext uri="{BB962C8B-B14F-4D97-AF65-F5344CB8AC3E}">
        <p14:creationId xmlns:p14="http://schemas.microsoft.com/office/powerpoint/2010/main" val="208864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008C-9DCF-F79F-8468-11B66DBA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8E2A-400F-6B8B-7122-7EE971ECF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220245"/>
          </a:xfrm>
        </p:spPr>
        <p:txBody>
          <a:bodyPr>
            <a:normAutofit fontScale="90000"/>
          </a:bodyPr>
          <a:lstStyle/>
          <a:p>
            <a:r>
              <a:rPr lang="en-IN" dirty="0"/>
              <a:t>Modular Pipeline Architecture &amp; Data Flow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DA0DF-BE77-4DC2-F62E-06C59DA2F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0262" y="3428999"/>
            <a:ext cx="4066072" cy="1378975"/>
          </a:xfrm>
        </p:spPr>
        <p:txBody>
          <a:bodyPr>
            <a:normAutofit/>
          </a:bodyPr>
          <a:lstStyle/>
          <a:p>
            <a:r>
              <a:rPr lang="en-IN" dirty="0"/>
              <a:t>Flowchart / Pipeline Diagram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1D96A083-8C70-7866-250B-B53D244E7BB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96" r="3296"/>
          <a:stretch/>
        </p:blipFill>
        <p:spPr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66385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AF5A-3EA3-7D1B-B8BD-17542F92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D70B-969D-EE91-952D-81CC5056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4"/>
            <a:ext cx="11090788" cy="1545967"/>
          </a:xfrm>
        </p:spPr>
        <p:txBody>
          <a:bodyPr/>
          <a:lstStyle/>
          <a:p>
            <a:r>
              <a:rPr lang="en-IN" dirty="0"/>
              <a:t>Repository Architecture &amp; Separation of Concerns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0AF06-DDC7-AD5B-C2B7-3BA6EB5FF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rmAutofit fontScale="92500"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Key Design Highlights</a:t>
            </a:r>
            <a:r>
              <a:rPr lang="en-US" sz="1800" dirty="0"/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Root Entry Points (</a:t>
            </a:r>
            <a:r>
              <a:rPr lang="en-IN" b="1" dirty="0"/>
              <a:t>app.py</a:t>
            </a:r>
            <a:r>
              <a:rPr lang="en-IN" sz="1800" b="1" dirty="0"/>
              <a:t>, </a:t>
            </a:r>
            <a:r>
              <a:rPr lang="en-IN" b="1" dirty="0"/>
              <a:t>main.py</a:t>
            </a:r>
            <a:r>
              <a:rPr lang="en-IN" sz="1800" b="1" dirty="0"/>
              <a:t>):</a:t>
            </a:r>
            <a:r>
              <a:rPr lang="en-IN" sz="1800" dirty="0"/>
              <a:t> Lightweight controllers delegating pipeline logic to the </a:t>
            </a:r>
            <a:r>
              <a:rPr lang="en-IN" dirty="0" err="1"/>
              <a:t>src</a:t>
            </a:r>
            <a:r>
              <a:rPr lang="en-IN" dirty="0"/>
              <a:t>/</a:t>
            </a:r>
            <a:r>
              <a:rPr lang="en-IN" sz="1800" dirty="0"/>
              <a:t> core library.</a:t>
            </a:r>
            <a:endParaRPr lang="en-IN" sz="1800" dirty="0">
              <a:solidFill>
                <a:schemeClr val="tx2"/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Decoupled Prompt Engineering (</a:t>
            </a:r>
            <a:r>
              <a:rPr lang="en-IN" b="1" dirty="0"/>
              <a:t>prompts/</a:t>
            </a:r>
            <a:r>
              <a:rPr lang="en-IN" sz="1800" b="1" dirty="0"/>
              <a:t>):</a:t>
            </a:r>
            <a:r>
              <a:rPr lang="en-IN" sz="1800" dirty="0"/>
              <a:t> Externalized prompt files (</a:t>
            </a:r>
            <a:r>
              <a:rPr lang="en-IN" dirty="0"/>
              <a:t>extraction_prompt.txt</a:t>
            </a:r>
            <a:r>
              <a:rPr lang="en-IN" sz="1800" dirty="0"/>
              <a:t>, </a:t>
            </a:r>
            <a:r>
              <a:rPr lang="en-IN" dirty="0"/>
              <a:t>customer_email_prompt.txt</a:t>
            </a:r>
            <a:r>
              <a:rPr lang="en-IN" sz="1800" dirty="0"/>
              <a:t>, </a:t>
            </a:r>
            <a:r>
              <a:rPr lang="en-IN" dirty="0"/>
              <a:t>case_summary_prompt.txt</a:t>
            </a:r>
            <a:r>
              <a:rPr lang="en-IN" sz="1800" dirty="0"/>
              <a:t>) allowing prompt updates without altering business logic</a:t>
            </a:r>
            <a:r>
              <a:rPr lang="en-IN" sz="1800" dirty="0">
                <a:solidFill>
                  <a:schemeClr val="tx2"/>
                </a:solidFill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Centralized Configuration (</a:t>
            </a:r>
            <a:r>
              <a:rPr lang="en-IN" b="1" dirty="0"/>
              <a:t>config/</a:t>
            </a:r>
            <a:r>
              <a:rPr lang="en-IN" b="1" dirty="0" err="1"/>
              <a:t>config.yaml</a:t>
            </a:r>
            <a:r>
              <a:rPr lang="en-IN" sz="1800" b="1" dirty="0"/>
              <a:t>):</a:t>
            </a:r>
            <a:r>
              <a:rPr lang="en-IN" sz="1800" dirty="0"/>
              <a:t> Model parameters (temperature, model name, provider) and system paths externalized in YAML</a:t>
            </a:r>
            <a:r>
              <a:rPr lang="en-IN" sz="1800" dirty="0">
                <a:solidFill>
                  <a:schemeClr val="tx2"/>
                </a:solidFill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Robust Logging &amp; Self-Bootstrapping (</a:t>
            </a:r>
            <a:r>
              <a:rPr lang="en-IN" b="1" dirty="0" err="1"/>
              <a:t>src</a:t>
            </a:r>
            <a:r>
              <a:rPr lang="en-IN" b="1" dirty="0"/>
              <a:t>/logger.py</a:t>
            </a:r>
            <a:r>
              <a:rPr lang="en-IN" sz="1800" b="1" dirty="0"/>
              <a:t>, </a:t>
            </a:r>
            <a:r>
              <a:rPr lang="en-IN" b="1" dirty="0" err="1"/>
              <a:t>src</a:t>
            </a:r>
            <a:r>
              <a:rPr lang="en-IN" b="1" dirty="0"/>
              <a:t>/config.py</a:t>
            </a:r>
            <a:r>
              <a:rPr lang="en-IN" sz="1800" b="1" dirty="0"/>
              <a:t>):</a:t>
            </a:r>
            <a:r>
              <a:rPr lang="en-IN" sz="1800" dirty="0"/>
              <a:t> Rotating file handlers (</a:t>
            </a:r>
            <a:r>
              <a:rPr lang="en-IN" dirty="0"/>
              <a:t>logs/app.log</a:t>
            </a:r>
            <a:r>
              <a:rPr lang="en-IN" sz="1800" dirty="0"/>
              <a:t>) and auto-creation of output directories on container/system startup</a:t>
            </a:r>
            <a:r>
              <a:rPr lang="en-IN" sz="18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806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0DB9-017D-33E6-5D66-FA972A3A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85D0-D8BB-E0C7-8C6D-BC4B46471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1545967"/>
          </a:xfrm>
        </p:spPr>
        <p:txBody>
          <a:bodyPr>
            <a:normAutofit/>
          </a:bodyPr>
          <a:lstStyle/>
          <a:p>
            <a:r>
              <a:rPr lang="en-IN" dirty="0"/>
              <a:t>Schema-Enforced Field Extraction via </a:t>
            </a:r>
            <a:r>
              <a:rPr lang="en-IN" dirty="0" err="1"/>
              <a:t>Pydantic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7E714-92A9-131D-ACAD-4C8A57B7A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Core </a:t>
            </a:r>
            <a:r>
              <a:rPr lang="en-IN" sz="1800" dirty="0" err="1"/>
              <a:t>Pydantic</a:t>
            </a:r>
            <a:r>
              <a:rPr lang="en-IN" sz="1800" dirty="0"/>
              <a:t> Schema (</a:t>
            </a:r>
            <a:r>
              <a:rPr lang="en-IN" dirty="0" err="1"/>
              <a:t>src</a:t>
            </a:r>
            <a:r>
              <a:rPr lang="en-IN" dirty="0"/>
              <a:t>/schemas.py</a:t>
            </a:r>
            <a:r>
              <a:rPr lang="en-IN" sz="1800" dirty="0"/>
              <a:t>):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customer_name</a:t>
            </a:r>
            <a:r>
              <a:rPr lang="en-IN" dirty="0"/>
              <a:t>: str</a:t>
            </a:r>
            <a:r>
              <a:rPr lang="en-IN" sz="1800" dirty="0"/>
              <a:t> (Guaranteed customer identifier)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/>
              <a:t>email / </a:t>
            </a:r>
            <a:r>
              <a:rPr lang="en-IN" dirty="0" err="1"/>
              <a:t>phone_number</a:t>
            </a:r>
            <a:r>
              <a:rPr lang="en-IN" dirty="0"/>
              <a:t>: Optional[str]</a:t>
            </a:r>
            <a:r>
              <a:rPr lang="en-IN" sz="1800" dirty="0"/>
              <a:t> (Explicit </a:t>
            </a:r>
            <a:r>
              <a:rPr lang="en-IN" dirty="0"/>
              <a:t>None</a:t>
            </a:r>
            <a:r>
              <a:rPr lang="en-IN" sz="1800" dirty="0"/>
              <a:t> handling without hallucination)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complaint_category</a:t>
            </a:r>
            <a:r>
              <a:rPr lang="en-IN" dirty="0"/>
              <a:t>: str</a:t>
            </a:r>
            <a:r>
              <a:rPr lang="en-IN" sz="1800" dirty="0"/>
              <a:t> (Normalized category e.g., Billing, SLA Outage, Hardware)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issue_description</a:t>
            </a:r>
            <a:r>
              <a:rPr lang="en-IN" dirty="0"/>
              <a:t>: str</a:t>
            </a:r>
            <a:r>
              <a:rPr lang="en-IN" sz="1800" dirty="0"/>
              <a:t> (Factual root-cause statement)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resolution_provided</a:t>
            </a:r>
            <a:r>
              <a:rPr lang="en-IN" dirty="0"/>
              <a:t>: Optional[str]</a:t>
            </a:r>
            <a:r>
              <a:rPr lang="en-IN" sz="1800" dirty="0"/>
              <a:t> (Set strictly to </a:t>
            </a:r>
            <a:r>
              <a:rPr lang="en-IN" dirty="0"/>
              <a:t>None</a:t>
            </a:r>
            <a:r>
              <a:rPr lang="en-IN" sz="1800" dirty="0"/>
              <a:t> if grievance remains unresolved)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escalation_required</a:t>
            </a:r>
            <a:r>
              <a:rPr lang="en-IN" dirty="0"/>
              <a:t>: bool</a:t>
            </a:r>
            <a:r>
              <a:rPr lang="en-IN" sz="1800" dirty="0"/>
              <a:t> (Automated triage flag for immediate manager attention)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case_status</a:t>
            </a:r>
            <a:r>
              <a:rPr lang="en-IN" dirty="0"/>
              <a:t>: Literal["Open", "In Progress", "Resolved", "Closed"]</a:t>
            </a:r>
            <a:r>
              <a:rPr lang="en-IN" sz="1800" dirty="0"/>
              <a:t> (Restricted status domain</a:t>
            </a:r>
            <a:r>
              <a:rPr lang="en-IN" sz="1900" dirty="0"/>
              <a:t>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/>
              <a:t>Zero-Hallucination Guardrail:</a:t>
            </a:r>
            <a:r>
              <a:rPr lang="en-IN" sz="1800" dirty="0"/>
              <a:t> The prompt explicitly forbids the model from fabricating missing contact points or premature resolutions.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9540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10E6-6C95-6CAB-DA50-159EFCA6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0C72-0D3B-9B88-68BD-938073FD0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1545967"/>
          </a:xfrm>
        </p:spPr>
        <p:txBody>
          <a:bodyPr>
            <a:normAutofit fontScale="90000"/>
          </a:bodyPr>
          <a:lstStyle/>
          <a:p>
            <a:r>
              <a:rPr lang="en-IN" dirty="0"/>
              <a:t>Automated Resolution Communication &amp; Management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EB1A1-F48B-EC24-30AD-913649267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Autofit/>
          </a:bodyPr>
          <a:lstStyle/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Stream 1: Customer Resolution Drafts (output/</a:t>
            </a:r>
            <a:r>
              <a:rPr lang="en-IN" sz="1800" dirty="0" err="1"/>
              <a:t>customer_emails</a:t>
            </a:r>
            <a:r>
              <a:rPr lang="en-IN" sz="1800" dirty="0"/>
              <a:t>/):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IN" dirty="0"/>
              <a:t>Synthesizes extracted details into a professional, empathetic email draft.</a:t>
            </a:r>
          </a:p>
          <a:p>
            <a:pPr marL="1257300" lvl="2" indent="-342900" algn="l">
              <a:buFont typeface="Wingdings" panose="05000000000000000000" pitchFamily="2" charset="2"/>
              <a:buChar char="§"/>
            </a:pPr>
            <a:r>
              <a:rPr lang="en-IN" dirty="0"/>
              <a:t>Clearly states current resolution or confirms active investigation status without promising unauthorized compensation or policies.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Stream 2: Executive Management Briefs (output/</a:t>
            </a:r>
            <a:r>
              <a:rPr lang="en-IN" sz="1800" dirty="0" err="1"/>
              <a:t>case_summaries</a:t>
            </a:r>
            <a:r>
              <a:rPr lang="en-IN" sz="1800" dirty="0"/>
              <a:t>/):</a:t>
            </a:r>
          </a:p>
          <a:p>
            <a:pPr marL="1200150" lvl="2" indent="-285750" algn="l">
              <a:buFont typeface="Wingdings" panose="05000000000000000000" pitchFamily="2" charset="2"/>
              <a:buChar char="q"/>
            </a:pPr>
            <a:r>
              <a:rPr lang="en-IN" dirty="0"/>
              <a:t>Standardized 5-section markdown document:</a:t>
            </a:r>
          </a:p>
          <a:p>
            <a:pPr marL="1714500" lvl="3" indent="-342900" algn="l">
              <a:buFont typeface="Wingdings" panose="05000000000000000000" pitchFamily="2" charset="2"/>
              <a:buChar char="§"/>
            </a:pPr>
            <a:r>
              <a:rPr lang="en-IN" sz="1800" dirty="0"/>
              <a:t>Case Overview</a:t>
            </a:r>
          </a:p>
          <a:p>
            <a:pPr marL="1714500" lvl="3" indent="-342900" algn="l">
              <a:buFont typeface="Wingdings" panose="05000000000000000000" pitchFamily="2" charset="2"/>
              <a:buChar char="§"/>
            </a:pPr>
            <a:r>
              <a:rPr lang="en-IN" sz="1800" dirty="0"/>
              <a:t>Key Issue &amp; Root Cause</a:t>
            </a:r>
          </a:p>
          <a:p>
            <a:pPr marL="1714500" lvl="3" indent="-342900" algn="l">
              <a:buFont typeface="Wingdings" panose="05000000000000000000" pitchFamily="2" charset="2"/>
              <a:buChar char="§"/>
            </a:pPr>
            <a:r>
              <a:rPr lang="en-IN" sz="1800" dirty="0"/>
              <a:t>Action Taken / Current Resolution</a:t>
            </a:r>
          </a:p>
          <a:p>
            <a:pPr marL="1714500" lvl="3" indent="-342900" algn="l">
              <a:buFont typeface="Wingdings" panose="05000000000000000000" pitchFamily="2" charset="2"/>
              <a:buChar char="§"/>
            </a:pPr>
            <a:r>
              <a:rPr lang="en-IN" sz="1800" dirty="0"/>
              <a:t>Case Status &amp; Escalation Level</a:t>
            </a:r>
          </a:p>
          <a:p>
            <a:pPr marL="1714500" lvl="3" indent="-342900" algn="l">
              <a:buFont typeface="Wingdings" panose="05000000000000000000" pitchFamily="2" charset="2"/>
              <a:buChar char="§"/>
            </a:pPr>
            <a:r>
              <a:rPr lang="en-IN" sz="1800" dirty="0"/>
              <a:t>Recommended Next Action</a:t>
            </a:r>
          </a:p>
        </p:txBody>
      </p:sp>
    </p:spTree>
    <p:extLst>
      <p:ext uri="{BB962C8B-B14F-4D97-AF65-F5344CB8AC3E}">
        <p14:creationId xmlns:p14="http://schemas.microsoft.com/office/powerpoint/2010/main" val="279390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706A-293F-5DD4-8E91-5310F535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5152-CDC4-692F-9717-5F8CB4D7C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1545967"/>
          </a:xfrm>
        </p:spPr>
        <p:txBody>
          <a:bodyPr>
            <a:normAutofit/>
          </a:bodyPr>
          <a:lstStyle/>
          <a:p>
            <a:r>
              <a:rPr lang="en-IN" dirty="0"/>
              <a:t>Cloud Infrastructure &amp; Production Deployment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DBEAD-577E-D2A5-727E-5CA3572D2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AWS Deployment Topology: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Host Instance:</a:t>
            </a:r>
            <a:r>
              <a:rPr lang="en-IN" sz="1800" dirty="0">
                <a:solidFill>
                  <a:schemeClr val="tx2"/>
                </a:solidFill>
              </a:rPr>
              <a:t> Amazon EC2 (Ubuntu 24.04 LTS).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Process Management:</a:t>
            </a:r>
            <a:r>
              <a:rPr lang="en-IN" sz="1800" dirty="0">
                <a:solidFill>
                  <a:schemeClr val="tx2"/>
                </a:solidFill>
              </a:rPr>
              <a:t> </a:t>
            </a:r>
            <a:r>
              <a:rPr lang="en-IN" sz="1800" dirty="0" err="1">
                <a:solidFill>
                  <a:schemeClr val="tx2"/>
                </a:solidFill>
              </a:rPr>
              <a:t>systemd</a:t>
            </a:r>
            <a:r>
              <a:rPr lang="en-IN" sz="1800" dirty="0">
                <a:solidFill>
                  <a:schemeClr val="tx2"/>
                </a:solidFill>
              </a:rPr>
              <a:t> daemon configuration ensuring automated restarts on failure and persistent background execution.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Network &amp; Security Configuration:</a:t>
            </a:r>
          </a:p>
          <a:p>
            <a:pPr marL="1200150" lvl="2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/>
                </a:solidFill>
              </a:rPr>
              <a:t>Custom AWS Security Group opening Port 8501 (</a:t>
            </a:r>
            <a:r>
              <a:rPr lang="en-IN" dirty="0" err="1">
                <a:solidFill>
                  <a:schemeClr val="tx2"/>
                </a:solidFill>
              </a:rPr>
              <a:t>Streamlit</a:t>
            </a:r>
            <a:r>
              <a:rPr lang="en-IN" dirty="0">
                <a:solidFill>
                  <a:schemeClr val="tx2"/>
                </a:solidFill>
              </a:rPr>
              <a:t>) and Port 22 (SSH).</a:t>
            </a:r>
          </a:p>
          <a:p>
            <a:pPr marL="1200150" lvl="2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/>
                </a:solidFill>
              </a:rPr>
              <a:t>Reverse proxy ready (Nginx) for SSL termination and static asset caching.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Environment Isolation:</a:t>
            </a:r>
            <a:r>
              <a:rPr lang="en-IN" sz="1800" dirty="0">
                <a:solidFill>
                  <a:schemeClr val="tx2"/>
                </a:solidFill>
              </a:rPr>
              <a:t> Python virtual environment (</a:t>
            </a:r>
            <a:r>
              <a:rPr lang="en-IN" sz="1800" dirty="0" err="1">
                <a:solidFill>
                  <a:schemeClr val="tx2"/>
                </a:solidFill>
              </a:rPr>
              <a:t>venv</a:t>
            </a:r>
            <a:r>
              <a:rPr lang="en-IN" sz="1800" dirty="0">
                <a:solidFill>
                  <a:schemeClr val="tx2"/>
                </a:solidFill>
              </a:rPr>
              <a:t>) managing dependencies pinned via requirements.txt.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/>
              <a:t>Deployment Verification:</a:t>
            </a:r>
            <a:r>
              <a:rPr lang="en-IN" sz="1800" dirty="0"/>
              <a:t> Public Elastic IP / DNS link provided in the submission for direct cloud access.</a:t>
            </a:r>
          </a:p>
        </p:txBody>
      </p:sp>
    </p:spTree>
    <p:extLst>
      <p:ext uri="{BB962C8B-B14F-4D97-AF65-F5344CB8AC3E}">
        <p14:creationId xmlns:p14="http://schemas.microsoft.com/office/powerpoint/2010/main" val="140069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4797E-D8BB-3843-B4BC-9381EBB9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8FD5-784E-16EB-27FF-8955C3FEA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83708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Streamlit</a:t>
            </a:r>
            <a:r>
              <a:rPr lang="en-IN" dirty="0"/>
              <a:t> Operational Center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805FE-9E5C-9954-3946-8AB682B54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Key Capabilities (Include screenshots from your running deployment):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Global KPI Banner:</a:t>
            </a:r>
            <a:r>
              <a:rPr lang="en-IN" sz="1800" dirty="0">
                <a:solidFill>
                  <a:schemeClr val="tx2"/>
                </a:solidFill>
              </a:rPr>
              <a:t> Instant counts for Total Cases, Escalations Needed, Active/Pending Cases, and Average Processing Latency.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Batch File Ingestion:</a:t>
            </a:r>
            <a:r>
              <a:rPr lang="en-IN" sz="1800" dirty="0">
                <a:solidFill>
                  <a:schemeClr val="tx2"/>
                </a:solidFill>
              </a:rPr>
              <a:t> Sidebar uploader accepting single or multi-file batches (</a:t>
            </a:r>
            <a:r>
              <a:rPr lang="en-IN" dirty="0">
                <a:solidFill>
                  <a:schemeClr val="tx2"/>
                </a:solidFill>
              </a:rPr>
              <a:t>.pdf</a:t>
            </a:r>
            <a:r>
              <a:rPr lang="en-IN" sz="1800" dirty="0">
                <a:solidFill>
                  <a:schemeClr val="tx2"/>
                </a:solidFill>
              </a:rPr>
              <a:t>, </a:t>
            </a:r>
            <a:r>
              <a:rPr lang="en-IN" dirty="0">
                <a:solidFill>
                  <a:schemeClr val="tx2"/>
                </a:solidFill>
              </a:rPr>
              <a:t>.docx</a:t>
            </a:r>
            <a:r>
              <a:rPr lang="en-IN" sz="1800" dirty="0">
                <a:solidFill>
                  <a:schemeClr val="tx2"/>
                </a:solidFill>
              </a:rPr>
              <a:t>, </a:t>
            </a:r>
            <a:r>
              <a:rPr lang="en-IN" dirty="0">
                <a:solidFill>
                  <a:schemeClr val="tx2"/>
                </a:solidFill>
              </a:rPr>
              <a:t>.txt</a:t>
            </a:r>
            <a:r>
              <a:rPr lang="en-IN" sz="1800" dirty="0">
                <a:solidFill>
                  <a:schemeClr val="tx2"/>
                </a:solidFill>
              </a:rPr>
              <a:t>).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Filtered Action Queues:</a:t>
            </a:r>
            <a:r>
              <a:rPr lang="en-IN" sz="1800" dirty="0">
                <a:solidFill>
                  <a:schemeClr val="tx2"/>
                </a:solidFill>
              </a:rPr>
              <a:t> Dedicated tabs for </a:t>
            </a:r>
            <a:r>
              <a:rPr lang="en-IN" sz="1800" b="1" dirty="0">
                <a:solidFill>
                  <a:schemeClr val="tx2"/>
                </a:solidFill>
              </a:rPr>
              <a:t>Priority Escalations</a:t>
            </a:r>
            <a:r>
              <a:rPr lang="en-IN" sz="1800" dirty="0">
                <a:solidFill>
                  <a:schemeClr val="tx2"/>
                </a:solidFill>
              </a:rPr>
              <a:t> (</a:t>
            </a:r>
            <a:r>
              <a:rPr lang="en-IN" dirty="0" err="1">
                <a:solidFill>
                  <a:schemeClr val="tx2"/>
                </a:solidFill>
              </a:rPr>
              <a:t>escalation_required</a:t>
            </a:r>
            <a:r>
              <a:rPr lang="en-IN" dirty="0">
                <a:solidFill>
                  <a:schemeClr val="tx2"/>
                </a:solidFill>
              </a:rPr>
              <a:t> == True</a:t>
            </a:r>
            <a:r>
              <a:rPr lang="en-IN" sz="1800" dirty="0">
                <a:solidFill>
                  <a:schemeClr val="tx2"/>
                </a:solidFill>
              </a:rPr>
              <a:t>) and </a:t>
            </a:r>
            <a:r>
              <a:rPr lang="en-IN" sz="1800" b="1" dirty="0">
                <a:solidFill>
                  <a:schemeClr val="tx2"/>
                </a:solidFill>
              </a:rPr>
              <a:t>Active Work Queue</a:t>
            </a:r>
            <a:r>
              <a:rPr lang="en-IN" sz="1800" dirty="0">
                <a:solidFill>
                  <a:schemeClr val="tx2"/>
                </a:solidFill>
              </a:rPr>
              <a:t> (</a:t>
            </a:r>
            <a:r>
              <a:rPr lang="en-IN" dirty="0" err="1">
                <a:solidFill>
                  <a:schemeClr val="tx2"/>
                </a:solidFill>
              </a:rPr>
              <a:t>case_status</a:t>
            </a:r>
            <a:r>
              <a:rPr lang="en-IN" dirty="0">
                <a:solidFill>
                  <a:schemeClr val="tx2"/>
                </a:solidFill>
              </a:rPr>
              <a:t> in ["Open", "In Progress"]</a:t>
            </a:r>
            <a:r>
              <a:rPr lang="en-IN" sz="1800" dirty="0">
                <a:solidFill>
                  <a:schemeClr val="tx2"/>
                </a:solidFill>
              </a:rPr>
              <a:t>).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Document Inspector:</a:t>
            </a:r>
            <a:r>
              <a:rPr lang="en-IN" sz="1800" dirty="0">
                <a:solidFill>
                  <a:schemeClr val="tx2"/>
                </a:solidFill>
              </a:rPr>
              <a:t> Side-by-side inspection of validated JSON schemas, generated customer responses, and internal summaries for any selected ticket.</a:t>
            </a:r>
          </a:p>
        </p:txBody>
      </p:sp>
    </p:spTree>
    <p:extLst>
      <p:ext uri="{BB962C8B-B14F-4D97-AF65-F5344CB8AC3E}">
        <p14:creationId xmlns:p14="http://schemas.microsoft.com/office/powerpoint/2010/main" val="217517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C04-3CE5-1FD6-545C-84D461FF8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8CCA-A0AA-9938-00E2-7123D3D90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837083"/>
          </a:xfrm>
        </p:spPr>
        <p:txBody>
          <a:bodyPr>
            <a:normAutofit fontScale="90000"/>
          </a:bodyPr>
          <a:lstStyle/>
          <a:p>
            <a:r>
              <a:rPr lang="en-IN" dirty="0"/>
              <a:t>Test Coverage &amp; Processing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63A71-1ECC-062C-086D-19E0A1F83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Automated Unit Testing (</a:t>
            </a:r>
            <a:r>
              <a:rPr lang="en-IN" sz="1800" dirty="0" err="1"/>
              <a:t>pytest</a:t>
            </a:r>
            <a:r>
              <a:rPr lang="en-IN" sz="1800" dirty="0"/>
              <a:t>):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2"/>
                </a:solidFill>
              </a:rPr>
              <a:t>tests/test_document_loader.py: Validates text extraction, missing file handling, and rejection of unsupported formats.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2"/>
                </a:solidFill>
              </a:rPr>
              <a:t>tests/test_schemas.py: Verifies </a:t>
            </a:r>
            <a:r>
              <a:rPr lang="en-IN" sz="1800" dirty="0" err="1">
                <a:solidFill>
                  <a:schemeClr val="tx2"/>
                </a:solidFill>
              </a:rPr>
              <a:t>Pydantic</a:t>
            </a:r>
            <a:r>
              <a:rPr lang="en-IN" sz="1800" dirty="0">
                <a:solidFill>
                  <a:schemeClr val="tx2"/>
                </a:solidFill>
              </a:rPr>
              <a:t> type checking, field validation, and rejection of invalid </a:t>
            </a:r>
            <a:r>
              <a:rPr lang="en-IN" sz="1800" dirty="0" err="1">
                <a:solidFill>
                  <a:schemeClr val="tx2"/>
                </a:solidFill>
              </a:rPr>
              <a:t>enum</a:t>
            </a:r>
            <a:r>
              <a:rPr lang="en-IN" sz="1800" dirty="0">
                <a:solidFill>
                  <a:schemeClr val="tx2"/>
                </a:solidFill>
              </a:rPr>
              <a:t> values.</a:t>
            </a:r>
          </a:p>
          <a:p>
            <a:pPr marL="742950" lvl="1" indent="-285750" algn="l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dirty="0"/>
              <a:t>Empirical Benchmarks (Based on Test Data):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Multi-Format Processing:</a:t>
            </a:r>
            <a:r>
              <a:rPr lang="en-IN" sz="1800" dirty="0">
                <a:solidFill>
                  <a:schemeClr val="tx2"/>
                </a:solidFill>
              </a:rPr>
              <a:t> 100% successful ingestion across .pdf, .docx, and .txt files.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Latency:</a:t>
            </a:r>
            <a:r>
              <a:rPr lang="en-IN" sz="1800" dirty="0">
                <a:solidFill>
                  <a:schemeClr val="tx2"/>
                </a:solidFill>
              </a:rPr>
              <a:t> ~7.65s average roundtrip per file across all 3 LLM calls (Extraction, Email, Summary).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2"/>
                </a:solidFill>
              </a:rPr>
              <a:t>Extraction Accuracy:</a:t>
            </a:r>
            <a:r>
              <a:rPr lang="en-IN" sz="1800" dirty="0">
                <a:solidFill>
                  <a:schemeClr val="tx2"/>
                </a:solidFill>
              </a:rPr>
              <a:t> 100% compliance with </a:t>
            </a:r>
            <a:r>
              <a:rPr lang="en-IN" sz="1800" dirty="0" err="1">
                <a:solidFill>
                  <a:schemeClr val="tx2"/>
                </a:solidFill>
              </a:rPr>
              <a:t>Pydantic</a:t>
            </a:r>
            <a:r>
              <a:rPr lang="en-IN" sz="1800" dirty="0">
                <a:solidFill>
                  <a:schemeClr val="tx2"/>
                </a:solidFill>
              </a:rPr>
              <a:t> JSON contracts across all test runs.</a:t>
            </a:r>
          </a:p>
        </p:txBody>
      </p:sp>
    </p:spTree>
    <p:extLst>
      <p:ext uri="{BB962C8B-B14F-4D97-AF65-F5344CB8AC3E}">
        <p14:creationId xmlns:p14="http://schemas.microsoft.com/office/powerpoint/2010/main" val="30987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A8832-6409-EA0A-5941-1FD3AD06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223F-AAC8-C1A6-553A-6C43271F1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606" y="539433"/>
            <a:ext cx="11090788" cy="1545968"/>
          </a:xfrm>
        </p:spPr>
        <p:txBody>
          <a:bodyPr>
            <a:normAutofit/>
          </a:bodyPr>
          <a:lstStyle/>
          <a:p>
            <a:r>
              <a:rPr lang="en-IN" dirty="0"/>
              <a:t>Project Deliverables &amp; Submission 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8F0E8-EDDE-2BA9-CA8A-57A5CA056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6" y="2085401"/>
            <a:ext cx="11090788" cy="4233165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2000" dirty="0"/>
              <a:t>Deliverable Checklist: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Live Cloud Deployment URL:</a:t>
            </a:r>
            <a:r>
              <a:rPr lang="en-IN" sz="1800" dirty="0">
                <a:solidFill>
                  <a:schemeClr val="tx2"/>
                </a:solidFill>
              </a:rPr>
              <a:t> &lt;</a:t>
            </a:r>
            <a:r>
              <a:rPr lang="en-IN" sz="1800" dirty="0" err="1">
                <a:solidFill>
                  <a:schemeClr val="tx2"/>
                </a:solidFill>
              </a:rPr>
              <a:t>provide_url</a:t>
            </a:r>
            <a:r>
              <a:rPr lang="en-IN" sz="1800">
                <a:solidFill>
                  <a:schemeClr val="tx2"/>
                </a:solidFill>
              </a:rPr>
              <a:t>&gt;</a:t>
            </a:r>
            <a:endParaRPr lang="en-IN" sz="1800" dirty="0">
              <a:solidFill>
                <a:schemeClr val="tx2"/>
              </a:solidFill>
            </a:endParaRP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GitHub Repository:</a:t>
            </a:r>
            <a:r>
              <a:rPr lang="en-IN" sz="1800" dirty="0">
                <a:solidFill>
                  <a:schemeClr val="tx2"/>
                </a:solidFill>
              </a:rPr>
              <a:t> Clean repository structure containing documented code, sample test files, and test suites.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tx2"/>
                </a:solidFill>
              </a:rPr>
              <a:t>Execution Modes Provided: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/>
                </a:solidFill>
              </a:rPr>
              <a:t>Web UI: </a:t>
            </a:r>
            <a:r>
              <a:rPr lang="en-IN" dirty="0" err="1">
                <a:solidFill>
                  <a:schemeClr val="tx2"/>
                </a:solidFill>
              </a:rPr>
              <a:t>streamlit</a:t>
            </a:r>
            <a:r>
              <a:rPr lang="en-IN" dirty="0">
                <a:solidFill>
                  <a:schemeClr val="tx2"/>
                </a:solidFill>
              </a:rPr>
              <a:t> run app.py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/>
                </a:solidFill>
              </a:rPr>
              <a:t>Headless CLI: python main.py</a:t>
            </a:r>
          </a:p>
          <a:p>
            <a:pPr marL="1371600" lvl="2" indent="-4572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/>
                </a:solidFill>
              </a:rPr>
              <a:t>Unit Tests: </a:t>
            </a:r>
            <a:r>
              <a:rPr lang="en-IN" dirty="0" err="1">
                <a:solidFill>
                  <a:schemeClr val="tx2"/>
                </a:solidFill>
              </a:rPr>
              <a:t>pytest</a:t>
            </a:r>
            <a:r>
              <a:rPr lang="en-IN" dirty="0">
                <a:solidFill>
                  <a:schemeClr val="tx2"/>
                </a:solidFill>
              </a:rPr>
              <a:t> tests/ -v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2"/>
                </a:solidFill>
              </a:rPr>
              <a:t>Comprehensive Documentation:</a:t>
            </a:r>
            <a:r>
              <a:rPr lang="en-IN" sz="1800" dirty="0">
                <a:solidFill>
                  <a:schemeClr val="tx2"/>
                </a:solidFill>
              </a:rPr>
              <a:t> Full README.md covering architecture, local setup, deployment steps, and configuration settings.</a:t>
            </a:r>
          </a:p>
        </p:txBody>
      </p:sp>
    </p:spTree>
    <p:extLst>
      <p:ext uri="{BB962C8B-B14F-4D97-AF65-F5344CB8AC3E}">
        <p14:creationId xmlns:p14="http://schemas.microsoft.com/office/powerpoint/2010/main" val="1879444845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134</TotalTime>
  <Words>988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Neue Haas Grotesk Text Pro</vt:lpstr>
      <vt:lpstr>Wingdings</vt:lpstr>
      <vt:lpstr>Dune</vt:lpstr>
      <vt:lpstr>AI-Powered Customer Complaint  &amp;  Document Processing Pipeline</vt:lpstr>
      <vt:lpstr>Operational Inefficiencies in Unstructured Support Intake</vt:lpstr>
      <vt:lpstr>Modular Pipeline Architecture &amp; Data Flow </vt:lpstr>
      <vt:lpstr>Repository Architecture &amp; Separation of Concerns</vt:lpstr>
      <vt:lpstr>Schema-Enforced Field Extraction via Pydantic</vt:lpstr>
      <vt:lpstr>Automated Resolution Communication &amp; Management Reporting</vt:lpstr>
      <vt:lpstr>Cloud Infrastructure &amp; Production Deployment Setup</vt:lpstr>
      <vt:lpstr>Streamlit Operational Center Features</vt:lpstr>
      <vt:lpstr>Test Coverage &amp; Processing Metrics</vt:lpstr>
      <vt:lpstr>Project Deliverables &amp; Submission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Gangwar</dc:creator>
  <cp:lastModifiedBy>Utkarsh Gangwar</cp:lastModifiedBy>
  <cp:revision>2</cp:revision>
  <dcterms:created xsi:type="dcterms:W3CDTF">2026-09-07T09:47:28Z</dcterms:created>
  <dcterms:modified xsi:type="dcterms:W3CDTF">2026-09-10T04:38:15Z</dcterms:modified>
</cp:coreProperties>
</file>